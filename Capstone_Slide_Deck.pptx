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4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Adoption Rate (%)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457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ACA-426E-AD5E-77C24FD9A1CD}"/>
              </c:ext>
            </c:extLst>
          </c:dPt>
          <c:dPt>
            <c:idx val="1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ACA-426E-AD5E-77C24FD9A1CD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Not Vaccinated</c:v>
                </c:pt>
                <c:pt idx="1">
                  <c:v>Vaccinated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11.2</c:v>
                </c:pt>
                <c:pt idx="1">
                  <c:v>42.1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ACA-426E-AD5E-77C24FD9A1C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CADC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Adoption Rate (%)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68A-41CA-BC33-767601AFC710}"/>
              </c:ext>
            </c:extLst>
          </c:dPt>
          <c:dPt>
            <c:idx val="1"/>
            <c:invertIfNegative val="0"/>
            <c:bubble3D val="0"/>
            <c:spPr>
              <a:solidFill>
                <a:srgbClr val="E4572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68A-41CA-BC33-767601AFC710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 Health Condition</c:v>
                </c:pt>
                <c:pt idx="1">
                  <c:v>Health Condition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38.5</c:v>
                </c:pt>
                <c:pt idx="1">
                  <c:v>9.6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68A-41CA-BC33-767601AFC71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CADCE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Random
Forest</c:v>
                </c:pt>
                <c:pt idx="1">
                  <c:v>Decision
Tree</c:v>
                </c:pt>
                <c:pt idx="2">
                  <c:v>Logistic
Regression</c:v>
                </c:pt>
                <c:pt idx="3">
                  <c:v>Baseline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0.91300000000000003</c:v>
                </c:pt>
                <c:pt idx="1">
                  <c:v>0.91</c:v>
                </c:pt>
                <c:pt idx="2">
                  <c:v>0.69899999999999995</c:v>
                </c:pt>
                <c:pt idx="3">
                  <c:v>0.67200000000000004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03-4CB8-8C43-C00AB814B17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Random
Forest</c:v>
                </c:pt>
                <c:pt idx="1">
                  <c:v>Decision
Tree</c:v>
                </c:pt>
                <c:pt idx="2">
                  <c:v>Logistic
Regression</c:v>
                </c:pt>
                <c:pt idx="3">
                  <c:v>Baseline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0.86299999999999999</c:v>
                </c:pt>
                <c:pt idx="1">
                  <c:v>0.86</c:v>
                </c:pt>
                <c:pt idx="2">
                  <c:v>0.61099999999999999</c:v>
                </c:pt>
                <c:pt idx="3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603-4CB8-8C43-C00AB814B17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Random
Forest</c:v>
                </c:pt>
                <c:pt idx="1">
                  <c:v>Decision
Tree</c:v>
                </c:pt>
                <c:pt idx="2">
                  <c:v>Logistic
Regression</c:v>
                </c:pt>
                <c:pt idx="3">
                  <c:v>Baseline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0.89500000000000002</c:v>
                </c:pt>
                <c:pt idx="1">
                  <c:v>0.88700000000000001</c:v>
                </c:pt>
                <c:pt idx="2">
                  <c:v>0.79600000000000004</c:v>
                </c:pt>
                <c:pt idx="3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603-4CB8-8C43-C00AB814B1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E3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EDED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A2E35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A2E35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Breed_Labrador</c:v>
                </c:pt>
                <c:pt idx="1">
                  <c:v>HealthCondition</c:v>
                </c:pt>
                <c:pt idx="2">
                  <c:v>TimeInShelterDays</c:v>
                </c:pt>
                <c:pt idx="3">
                  <c:v>WeightKg</c:v>
                </c:pt>
                <c:pt idx="4">
                  <c:v>AdoptionFee</c:v>
                </c:pt>
                <c:pt idx="5">
                  <c:v>Vaccinated</c:v>
                </c:pt>
                <c:pt idx="6">
                  <c:v>AgeMonths</c:v>
                </c:pt>
                <c:pt idx="7">
                  <c:v>Size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6.7000000000000004E-2</c:v>
                </c:pt>
                <c:pt idx="1">
                  <c:v>7.8E-2</c:v>
                </c:pt>
                <c:pt idx="2">
                  <c:v>0.08</c:v>
                </c:pt>
                <c:pt idx="3">
                  <c:v>8.8999999999999996E-2</c:v>
                </c:pt>
                <c:pt idx="4">
                  <c:v>0.09</c:v>
                </c:pt>
                <c:pt idx="5">
                  <c:v>0.104</c:v>
                </c:pt>
                <c:pt idx="6">
                  <c:v>0.124</c:v>
                </c:pt>
                <c:pt idx="7">
                  <c:v>0.21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C2-4787-8887-36E171D41BD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2E3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8844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3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371600" y="4389120"/>
            <a:ext cx="3657600" cy="365760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Optimizing Animal Shelter Outcomes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3832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Adoption Likelihood to Guide Shelter Resource Allocation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4160520"/>
            <a:ext cx="20116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extra day in a shelter has a cost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852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Shelters operate under tight constraints on space, veterinary budget, and staff time — but often lack data-driven insight into which animal characteristics most influence adoption likelihood. Without that insight, animals who could benefit most from early intervention aren’t identified until they’ve already become a long-stay case.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0" y="1554480"/>
            <a:ext cx="4754880" cy="4206240"/>
          </a:xfrm>
          <a:prstGeom prst="roundRect">
            <a:avLst>
              <a:gd name="adj" fmla="val 2609"/>
            </a:avLst>
          </a:prstGeom>
          <a:solidFill>
            <a:srgbClr val="F4F9F9"/>
          </a:solidFill>
          <a:ln w="12700">
            <a:solidFill>
              <a:srgbClr val="E3EF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0" y="201168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32.8%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7223760" y="315468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shelter animals in this dataset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adopted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589520" y="4114800"/>
            <a:ext cx="3291840" cy="0"/>
          </a:xfrm>
          <a:prstGeom prst="line">
            <a:avLst/>
          </a:prstGeom>
          <a:noFill/>
          <a:ln w="12700">
            <a:solidFill>
              <a:srgbClr val="D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0" y="434340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2,007 animal records analyzed — a moderately imbalanced target that shaped every modeling choice in this project.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Animal Shelter Outcomes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model that flags at-risk animals early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adoption likelihood at intake lets shelter staff act, not just react.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4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85900" y="246888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8590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Managers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393192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kennel capacity and staffing around predicted need.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19272" y="214884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4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256532" y="246888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56532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02152" y="32918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Veterinary Staff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547872" y="393192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which health conditions are the biggest barrier to adoption.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89904" y="214884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4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027164" y="246888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27164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72784" y="32918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Outreach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318504" y="393192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photography and campaign spending where it matters most.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860536" y="214884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F4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797796" y="2468880"/>
            <a:ext cx="640080" cy="640080"/>
          </a:xfrm>
          <a:prstGeom prst="ellipse">
            <a:avLst/>
          </a:prstGeom>
          <a:solidFill>
            <a:srgbClr val="E457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797796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043416" y="329184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Animals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089136" y="3931920"/>
            <a:ext cx="2057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Shorter length of stay and a better-matched permanent home.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Animal Shelter Outcomes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THE DATA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2,007 shelter animal records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Kaggle: "Predict Pet Adoption Status"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21992"/>
            <a:ext cx="82296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Species &amp; Breed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11880" y="214884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Bird, Cat, Dog, Rabbit — across 7 breeds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99232"/>
            <a:ext cx="82296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Traits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11880" y="292608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(months), Weight (kg), Size, Color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776472"/>
            <a:ext cx="82296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370332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&amp; Care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11880" y="370332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Vaccinated, Health Condition, Previous Owner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553712"/>
            <a:ext cx="82296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44805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Shelter Factors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11880" y="4480560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in Shelter (days), Adoption Fee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589520" y="2148840"/>
            <a:ext cx="4023360" cy="2926080"/>
          </a:xfrm>
          <a:prstGeom prst="roundRect">
            <a:avLst>
              <a:gd name="adj" fmla="val 3750"/>
            </a:avLst>
          </a:prstGeom>
          <a:solidFill>
            <a:srgbClr val="0B3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63840" y="2377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63840" y="26974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AdoptionLikelihood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863840" y="32004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classification: 0 = not likely adopted, 1 = likely adopted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863840" y="3931920"/>
            <a:ext cx="3474720" cy="0"/>
          </a:xfrm>
          <a:prstGeom prst="line">
            <a:avLst/>
          </a:prstGeom>
          <a:noFill/>
          <a:ln w="12700">
            <a:solidFill>
              <a:srgbClr val="2E5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863840" y="411480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limitations: no behavioral data, no image data — both noted as future scope.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Animal Shelter Outcomes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a tuned classifier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Wrangle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56616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for missing values; reviewed numeric ranges for data-collection artifacts.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55848" y="21031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38728" y="2331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38728" y="3017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38728" y="356616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+ bivariate analysis; chi-square test on health condition vs. adoption.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63056" y="21031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45936" y="2331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345936" y="3017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345936" y="356616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redundant features, encoded categoricals, scaled numerics, 80/20 stratified split.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70264" y="2103120"/>
            <a:ext cx="2606040" cy="3383280"/>
          </a:xfrm>
          <a:prstGeom prst="roundRect">
            <a:avLst>
              <a:gd name="adj" fmla="val 3509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53144" y="23317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>
                    <a:alpha val="7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153144" y="301752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Tune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53144" y="3566160"/>
            <a:ext cx="22402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algorithms, 5-fold GridSearchCV, Gini vs. entropy compared directly in the search.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Animal Shelter Outcomes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3C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KEY FINDING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Vaccination status is the single biggest lever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731520" y="1737360"/>
          <a:ext cx="56692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737360"/>
            <a:ext cx="4754880" cy="4206240"/>
          </a:xfrm>
          <a:prstGeom prst="roundRect">
            <a:avLst>
              <a:gd name="adj" fmla="val 2609"/>
            </a:avLst>
          </a:prstGeom>
          <a:solidFill>
            <a:srgbClr val="1147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040880" y="201168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3.8×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7223760" y="306324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adoption rate for vaccinated animals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589520" y="3931920"/>
            <a:ext cx="3291840" cy="0"/>
          </a:xfrm>
          <a:prstGeom prst="line">
            <a:avLst/>
          </a:prstGeom>
          <a:noFill/>
          <a:ln w="12700">
            <a:solidFill>
              <a:srgbClr val="2E5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0" y="416052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Vaccinating earlier in an animal’s stay is a low-cost, high-leverage change fully within shelter operations’ control.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Animal Shelter Outcomes 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KEY FINDING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 condition is a statistically significant barrier</a:t>
            </a:r>
            <a:endParaRPr lang="en-US" sz="27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731520" y="1737360"/>
          <a:ext cx="56692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858000" y="1737360"/>
            <a:ext cx="4754880" cy="4206240"/>
          </a:xfrm>
          <a:prstGeom prst="roundRect">
            <a:avLst>
              <a:gd name="adj" fmla="val 2609"/>
            </a:avLst>
          </a:prstGeom>
          <a:solidFill>
            <a:srgbClr val="1147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040880" y="2011680"/>
            <a:ext cx="4389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&lt; 0.001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223760" y="29718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chi-square test of independence (χ² = 118.24)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589520" y="3703320"/>
            <a:ext cx="3291840" cy="0"/>
          </a:xfrm>
          <a:prstGeom prst="line">
            <a:avLst/>
          </a:prstGeom>
          <a:noFill/>
          <a:ln w="12700">
            <a:solidFill>
              <a:srgbClr val="2E5B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315200" y="393192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isn’t noise — animals with a health condition are adopted at less than a quarter the rate of healthy animals. Fast-tracking treatment and marketing for this group is a direct opportunity.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Animal Shelter Outcomes 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MODELING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models, tuned and compared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 used as the primary metric — accuracy alone is misleading with a ~33/67 class split.</a:t>
            </a:r>
            <a:endParaRPr lang="en-US" sz="13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1965960"/>
          <a:ext cx="77724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8549640" y="1965960"/>
            <a:ext cx="3108960" cy="4114800"/>
          </a:xfrm>
          <a:prstGeom prst="roundRect">
            <a:avLst>
              <a:gd name="adj" fmla="val 3529"/>
            </a:avLst>
          </a:prstGeom>
          <a:solidFill>
            <a:srgbClr val="F4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778240" y="21945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778240" y="246888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778240" y="29718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0.863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778240" y="3520440"/>
            <a:ext cx="2423160" cy="0"/>
          </a:xfrm>
          <a:prstGeom prst="line">
            <a:avLst/>
          </a:prstGeom>
          <a:noFill/>
          <a:ln w="12700">
            <a:solidFill>
              <a:srgbClr val="D6E6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778240" y="3703320"/>
            <a:ext cx="2651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trees · entropy split · unrestricted depth · balanced class weights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778240" y="475488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via 5-fold cross-validated grid search over all three tuned models.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Animal Shelter Outcomes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MODELING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final model performs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64208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91.3%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063240" y="155448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063240" y="1664208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0.863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063240" y="2331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577840" y="155448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577840" y="1664208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0.895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5577840" y="23317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Set: 402 Animals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76732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257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88920" y="365760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B9C9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88920" y="376732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788920" y="443484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507492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B9C9C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518464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8640" y="5852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88920" y="5074920"/>
            <a:ext cx="2057400" cy="1234440"/>
          </a:xfrm>
          <a:prstGeom prst="roundRect">
            <a:avLst>
              <a:gd name="adj" fmla="val 5926"/>
            </a:avLst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88920" y="5184648"/>
            <a:ext cx="2057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110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2788920" y="585216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0" y="3246120"/>
            <a:ext cx="6172200" cy="3063240"/>
          </a:xfrm>
          <a:prstGeom prst="roundRect">
            <a:avLst>
              <a:gd name="adj" fmla="val 3582"/>
            </a:avLst>
          </a:prstGeom>
          <a:solidFill>
            <a:srgbClr val="F4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760720" y="342900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errors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5760720" y="3840480"/>
            <a:ext cx="56692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and recall are both strong for "not likely adopted" (0.92 / 0.95) and solid for "likely adopted" (0.89 / 0.83). One nuance: among the 22 false negatives, 50% had a health condition — vs. 22.6% overall — suggesting the model may somewhat over-weight health condition as a negative signal. Worth monitoring in production so adoptable animals with health conditions aren’t systematically deprioritized.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Animal Shelter Outcomes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—  FINDINGS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actually drives the predictions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600200"/>
          <a:ext cx="731520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737360"/>
            <a:ext cx="3520440" cy="4572000"/>
          </a:xfrm>
          <a:prstGeom prst="roundRect">
            <a:avLst>
              <a:gd name="adj" fmla="val 3117"/>
            </a:avLst>
          </a:prstGeom>
          <a:solidFill>
            <a:srgbClr val="0B3C4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366760" y="1965960"/>
            <a:ext cx="30632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independent models agree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366760" y="2651760"/>
            <a:ext cx="30632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random forest’s top features — Size, Age, Vaccinated — line up closely with the logistic regression’s strongest coefficients (Vaccinated +2.21, HealthCondition −2.35). Two different algorithms converging on the same handful of features builds real confidence these relationships are genuine, not an artifact of one model.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Animal Shelter Outcomes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—  RECOMMENDATIONS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act on these findings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4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Vaccinate at intake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657600"/>
            <a:ext cx="29718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Vaccinated animals adopt at nearly 4× the rate of unvaccinated ones. Move vaccination as early as clinically possible.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182880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4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617720" y="2103120"/>
            <a:ext cx="594360" cy="594360"/>
          </a:xfrm>
          <a:prstGeom prst="ellipse">
            <a:avLst/>
          </a:prstGeom>
          <a:solidFill>
            <a:srgbClr val="00A8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617720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28803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Fast-track health-condition care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3657600"/>
            <a:ext cx="29718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9.6% vs. 38.5% gap is severe and statistically confirmed. Pair expedited treatment with dedicated marketing.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3520440" cy="4114800"/>
          </a:xfrm>
          <a:prstGeom prst="roundRect">
            <a:avLst>
              <a:gd name="adj" fmla="val 2597"/>
            </a:avLst>
          </a:prstGeom>
          <a:solidFill>
            <a:srgbClr val="F4F9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412480" y="2103120"/>
            <a:ext cx="594360" cy="59436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412480" y="2103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12480" y="28803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at-risk animals early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412480" y="3657600"/>
            <a:ext cx="29718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animals at intake and route low-probability predictions to staff within the first 30 days, per the original project target.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Animal Shelter Outcomes 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—  LOOKING AHEAD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next steps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behavioral or temperament data captured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277063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image data — photo quality out of scope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39242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39242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dataset, not a live shelter feed — re-validate before acting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5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mildly over-weights health condition (Slide 9)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09360" y="173736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9360" y="21488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629400" y="21488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gradient boosting (XGBoost) against the random forest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2770632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629400" y="2770632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time-to-adoption as survival analysis, not binary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3392424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29400" y="339242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score animals in real time at intake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4014216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29400" y="401421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real-world 30-day identification rate vs. 70% target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11064240" cy="0"/>
          </a:xfrm>
          <a:prstGeom prst="line">
            <a:avLst/>
          </a:prstGeom>
          <a:noFill/>
          <a:ln w="12700">
            <a:solidFill>
              <a:srgbClr val="EDED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507492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these caveats — particularly validating against live shelter data before deployment — this model gives operations, veterinary, and marketing staff a data-driven starting point for prioritizing the animals who need help most.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Optimizing Animal Shelter Outcomes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C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75520" y="4754880"/>
            <a:ext cx="4114800" cy="411480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46888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 welcome.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201168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4343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C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report, model metrics, and code available in the project GitHub repository.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995</Words>
  <Application>Microsoft Office PowerPoint</Application>
  <PresentationFormat>Widescreen</PresentationFormat>
  <Paragraphs>165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Aro Roseman</cp:lastModifiedBy>
  <cp:revision>2</cp:revision>
  <dcterms:created xsi:type="dcterms:W3CDTF">2026-08-09T15:11:57Z</dcterms:created>
  <dcterms:modified xsi:type="dcterms:W3CDTF">2026-08-09T20:21:23Z</dcterms:modified>
</cp:coreProperties>
</file>